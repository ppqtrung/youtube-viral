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474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HACKATHON 2026  |  DATA SCIENCE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4630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F172A"/>
                </a:solidFill>
                <a:latin typeface="Calibri"/>
              </a:rPr>
              <a:t>YouTube Viral Advisor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288036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75569"/>
                </a:solidFill>
                <a:latin typeface="Calibri"/>
              </a:rPr>
              <a:t>Predicting video virality before upload using
gradient-boosted ML, NLP, and 178,000 trending videos.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4069080"/>
            <a:ext cx="228600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0" y="1280160"/>
            <a:ext cx="3200400" cy="4389120"/>
          </a:xfrm>
          <a:prstGeom prst="rect">
            <a:avLst/>
          </a:prstGeom>
          <a:solidFill>
            <a:srgbClr val="F8FAFC"/>
          </a:solidFill>
          <a:ln w="6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0" y="1463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18288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Team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3317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Member 1
Member 2
Member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3566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Submission includes: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39319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• Video presentation
• This slide deck
• Full source code (app.py,
  analysis.py, model.py)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4480560"/>
            <a:ext cx="4754880" cy="502920"/>
          </a:xfrm>
          <a:prstGeom prst="rect">
            <a:avLst/>
          </a:prstGeom>
          <a:solidFill>
            <a:srgbClr val="F8FAFC"/>
          </a:solidFill>
          <a:ln w="6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457200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178,267 videos  |  11 countries  |  15 categories  |  2026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36576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85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Small YouTubers upload blind.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75569"/>
                </a:solidFill>
                <a:latin typeface="Calibri"/>
              </a:rPr>
              <a:t>Before a video goes live, creators have no data-driven signal on whether
their choices — title, timing, tags, category — match what actually trends.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54680"/>
            <a:ext cx="3520440" cy="2377440"/>
          </a:xfrm>
          <a:prstGeom prst="rect">
            <a:avLst/>
          </a:prstGeom>
          <a:solidFill>
            <a:srgbClr val="F8FAFC"/>
          </a:solidFill>
          <a:ln w="8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154680"/>
            <a:ext cx="50292" cy="2377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Wrong upload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Peak hours matter. Most creators publish whenever is convenient.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3154680"/>
            <a:ext cx="3520440" cy="2377440"/>
          </a:xfrm>
          <a:prstGeom prst="rect">
            <a:avLst/>
          </a:prstGeom>
          <a:solidFill>
            <a:srgbClr val="F8FAFC"/>
          </a:solidFill>
          <a:ln w="8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3154680"/>
            <a:ext cx="50292" cy="2377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3337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Poor title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388620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Title length and keywords directly impact click-through rate.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8" y="3154680"/>
            <a:ext cx="3520440" cy="2377440"/>
          </a:xfrm>
          <a:prstGeom prst="rect">
            <a:avLst/>
          </a:prstGeom>
          <a:solidFill>
            <a:srgbClr val="F8FAFC"/>
          </a:solidFill>
          <a:ln w="8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8" y="3154680"/>
            <a:ext cx="50292" cy="2377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8" y="3337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Tag guesswork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8" y="388620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Too few or too many tags reduce discoverability in 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36576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85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Solution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2468880" cy="1645920"/>
          </a:xfrm>
          <a:prstGeom prst="rect">
            <a:avLst/>
          </a:prstGeom>
          <a:solidFill>
            <a:srgbClr val="F1F5F9"/>
          </a:solidFill>
          <a:ln w="8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81051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Raw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240280"/>
            <a:ext cx="2148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11 country CSVs
178K+ videos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645920"/>
            <a:ext cx="2468880" cy="1645920"/>
          </a:xfrm>
          <a:prstGeom prst="rect">
            <a:avLst/>
          </a:prstGeom>
          <a:solidFill>
            <a:srgbClr val="F1F5F9"/>
          </a:solidFill>
          <a:ln w="8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6432" y="181051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Feature Eng.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2240280"/>
            <a:ext cx="2148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NLP + timing
+ engagement ratios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645920"/>
            <a:ext cx="2468880" cy="1645920"/>
          </a:xfrm>
          <a:prstGeom prst="rect">
            <a:avLst/>
          </a:prstGeom>
          <a:solidFill>
            <a:srgbClr val="2563EB"/>
          </a:solidFill>
          <a:ln w="8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81051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ML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40280"/>
            <a:ext cx="2148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HistGradientBoosting
+ Calibration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1645920"/>
            <a:ext cx="2468880" cy="1645920"/>
          </a:xfrm>
          <a:prstGeom prst="rect">
            <a:avLst/>
          </a:prstGeom>
          <a:solidFill>
            <a:srgbClr val="0F172A"/>
          </a:solidFill>
          <a:ln w="8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34272" y="181051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Virality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34272" y="2240280"/>
            <a:ext cx="2148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0-100% calibrated
probability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57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Calibri"/>
              </a:rPr>
              <a:t>Three outputs per prediction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206240"/>
            <a:ext cx="3611880" cy="2148840"/>
          </a:xfrm>
          <a:prstGeom prst="rect">
            <a:avLst/>
          </a:prstGeom>
          <a:solidFill>
            <a:srgbClr val="FFFFFF"/>
          </a:solidFill>
          <a:ln w="8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206240"/>
            <a:ext cx="36118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37083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Virality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8463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Calibrated probability (0-100%) of reaching top-25% views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4206240"/>
            <a:ext cx="3611880" cy="2148840"/>
          </a:xfrm>
          <a:prstGeom prst="rect">
            <a:avLst/>
          </a:prstGeom>
          <a:solidFill>
            <a:srgbClr val="FFFFFF"/>
          </a:solidFill>
          <a:ln w="8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34840" y="4206240"/>
            <a:ext cx="36118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9432" y="437083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Benchmark Table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48463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Side-by-side comparison of inputs vs. viral video benchmarks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4206240"/>
            <a:ext cx="3611880" cy="2148840"/>
          </a:xfrm>
          <a:prstGeom prst="rect">
            <a:avLst/>
          </a:prstGeom>
          <a:solidFill>
            <a:srgbClr val="FFFFFF"/>
          </a:solidFill>
          <a:ln w="8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21040" y="4206240"/>
            <a:ext cx="36118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85632" y="437083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Recommendations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85632" y="48463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Data-driven suggestions + NLP viral keyword hints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36576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85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Dataset &amp; Feature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5029200" cy="5120640"/>
          </a:xfrm>
          <a:prstGeom prst="rect">
            <a:avLst/>
          </a:prstGeom>
          <a:solidFill>
            <a:srgbClr val="F8FAFC"/>
          </a:solidFill>
          <a:ln w="8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334155"/>
                </a:solidFill>
                <a:latin typeface="Calibri"/>
              </a:rPr>
              <a:t>178,267 videos after cleaning</a:t>
            </a:r>
          </a:p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334155"/>
                </a:solidFill>
                <a:latin typeface="Calibri"/>
              </a:rPr>
              <a:t>11 countries: US, UK, JP, BR, CA, DE, FR, IN, KR, MX, RU</a:t>
            </a:r>
          </a:p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334155"/>
                </a:solidFill>
                <a:latin typeface="Calibri"/>
              </a:rPr>
              <a:t>15 YouTube categories</a:t>
            </a:r>
          </a:p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334155"/>
                </a:solidFill>
                <a:latin typeface="Calibri"/>
              </a:rPr>
              <a:t>Source: YouTube Trending 2026 (Kaggle)</a:t>
            </a:r>
          </a:p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334155"/>
                </a:solidFill>
                <a:latin typeface="Calibri"/>
              </a:rPr>
              <a:t>category_id mapped to human labels</a:t>
            </a:r>
          </a:p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334155"/>
                </a:solidFill>
                <a:latin typeface="Calibri"/>
              </a:rPr>
              <a:t>like_ratio &amp; comment_ratio clipped to [0, 1]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325880"/>
            <a:ext cx="5669280" cy="5120640"/>
          </a:xfrm>
          <a:prstGeom prst="rect">
            <a:avLst/>
          </a:prstGeom>
          <a:solidFill>
            <a:srgbClr val="F8FAFC"/>
          </a:solidFill>
          <a:ln w="8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Engineered Features (11 total)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965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NLP — Title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24028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  title_length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4871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  title_word_count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73405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  title_caps_ratio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98094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  title_has_number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278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  title_has_question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4747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  title_has_exclamation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8130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Metadata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0873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  number_of_tags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33425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  publish_hour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58114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  publish_dow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9194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Categorical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519379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  category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44068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  country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36576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85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Model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HistGradientBoostingClassifier  +  CalibratedClassifierCV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Why Histogram Gradient Boosting over Random Forest?  Native handling of categoricals, faster training, higher AUC on tabular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5303520" cy="3474720"/>
          </a:xfrm>
          <a:prstGeom prst="rect">
            <a:avLst/>
          </a:prstGeom>
          <a:solidFill>
            <a:srgbClr val="F8FAFC"/>
          </a:solidFill>
          <a:ln w="8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Hyperparameters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-  </a:t>
            </a:r>
            <a:r>
              <a:rPr sz="1300">
                <a:solidFill>
                  <a:srgbClr val="334155"/>
                </a:solidFill>
                <a:latin typeface="Calibri"/>
              </a:rPr>
              <a:t>max_iter = 300  (early stopping on 10% val split)</a:t>
            </a:r>
          </a:p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-  </a:t>
            </a:r>
            <a:r>
              <a:rPr sz="1300">
                <a:solidFill>
                  <a:srgbClr val="334155"/>
                </a:solidFill>
                <a:latin typeface="Calibri"/>
              </a:rPr>
              <a:t>learning_rate = 0.08</a:t>
            </a:r>
          </a:p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-  </a:t>
            </a:r>
            <a:r>
              <a:rPr sz="1300">
                <a:solidFill>
                  <a:srgbClr val="334155"/>
                </a:solidFill>
                <a:latin typeface="Calibri"/>
              </a:rPr>
              <a:t>max_depth = 8</a:t>
            </a:r>
          </a:p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-  </a:t>
            </a:r>
            <a:r>
              <a:rPr sz="1300">
                <a:solidFill>
                  <a:srgbClr val="334155"/>
                </a:solidFill>
                <a:latin typeface="Calibri"/>
              </a:rPr>
              <a:t>min_samples_leaf = 30</a:t>
            </a:r>
          </a:p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-  </a:t>
            </a:r>
            <a:r>
              <a:rPr sz="1300">
                <a:solidFill>
                  <a:srgbClr val="334155"/>
                </a:solidFill>
                <a:latin typeface="Calibri"/>
              </a:rPr>
              <a:t>l2_regularization = 1.0</a:t>
            </a:r>
          </a:p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-  </a:t>
            </a:r>
            <a:r>
              <a:rPr sz="1300">
                <a:solidFill>
                  <a:srgbClr val="334155"/>
                </a:solidFill>
                <a:latin typeface="Calibri"/>
              </a:rPr>
              <a:t>random_state = 42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514600"/>
            <a:ext cx="5303520" cy="3474720"/>
          </a:xfrm>
          <a:prstGeom prst="rect">
            <a:avLst/>
          </a:prstGeom>
          <a:solidFill>
            <a:srgbClr val="F8FAFC"/>
          </a:solidFill>
          <a:ln w="8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697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Calibration (Isotonic Regression)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15468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Raw classifier scores are monotonically transformed using isotonic regression inside a 3-fold CalibratedClassifierCV. This ensures the output percentage is a statistically valid probability, not just a ranking score.
Target: views &gt;= 75th percentile  =  'viral'  (25% positive class)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36576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85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Model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560320" cy="1325880"/>
          </a:xfrm>
          <a:prstGeom prst="rect">
            <a:avLst/>
          </a:prstGeom>
          <a:solidFill>
            <a:srgbClr val="FFFFFF"/>
          </a:solidFill>
          <a:ln w="8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08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TEST ROC AUC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55648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563EB"/>
                </a:solidFill>
                <a:latin typeface="Calibri"/>
              </a:rPr>
              <a:t>0.853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377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held-out 20% (35,654 videos)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371600"/>
            <a:ext cx="2560320" cy="1325880"/>
          </a:xfrm>
          <a:prstGeom prst="rect">
            <a:avLst/>
          </a:prstGeom>
          <a:solidFill>
            <a:srgbClr val="FFFFFF"/>
          </a:solidFill>
          <a:ln w="8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508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CV ROC AUC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755648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0.797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377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5-fold  ±  0.005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560320" cy="1325880"/>
          </a:xfrm>
          <a:prstGeom prst="rect">
            <a:avLst/>
          </a:prstGeom>
          <a:solidFill>
            <a:srgbClr val="FFFFFF"/>
          </a:solidFill>
          <a:ln w="8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08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PR AUC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55648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0.690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377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average precision score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1371600"/>
            <a:ext cx="2560320" cy="1325880"/>
          </a:xfrm>
          <a:prstGeom prst="rect">
            <a:avLst/>
          </a:prstGeom>
          <a:solidFill>
            <a:srgbClr val="FFFFFF"/>
          </a:solidFill>
          <a:ln w="8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32" y="1508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BRIER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1755648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0.124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0032" y="2377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calibration error (lower = better)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Permutation Feature Importance (drop in ROC AUC when shuffled)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5204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category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3557016"/>
            <a:ext cx="5029200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45552" y="35204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0.134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86791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country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3904488"/>
            <a:ext cx="4901973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18325" y="386791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0.131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21538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number_of_tags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4251960"/>
            <a:ext cx="3289186" cy="20116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05538" y="421538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0.088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56285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title_length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4599432"/>
            <a:ext cx="2106725" cy="20116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23077" y="456285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0.056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91032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title_word_count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0" y="4946904"/>
            <a:ext cx="2061822" cy="20116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78174" y="491032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0.055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2578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publish_hour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0" y="5294376"/>
            <a:ext cx="1998208" cy="20116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14560" y="52578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0.053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60527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title_caps_ratio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0" y="5641848"/>
            <a:ext cx="1002846" cy="20116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19198" y="56052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0.027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95274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publish_dow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0" y="5989320"/>
            <a:ext cx="374196" cy="20116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90548" y="59527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0.010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36576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85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Viral Advisor — Inputs &amp; Score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5120640" cy="5120640"/>
          </a:xfrm>
          <a:prstGeom prst="rect">
            <a:avLst/>
          </a:prstGeom>
          <a:solidFill>
            <a:srgbClr val="F8FAFC"/>
          </a:solidFill>
          <a:ln w="8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Pre-upload 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01168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Free text — NLP features extracted automatically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Category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4231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15 categories (Entertainment, Music, Gaming ...)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Country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83464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11 countries in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461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Number of tags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24612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Integer 0 – 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Publish hour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6576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Slider 0 – 23 UTC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690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Publish 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06908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Mon – Sun dropdown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325880"/>
            <a:ext cx="5669280" cy="2560320"/>
          </a:xfrm>
          <a:prstGeom prst="rect">
            <a:avLst/>
          </a:prstGeom>
          <a:solidFill>
            <a:srgbClr val="0F172A"/>
          </a:solidFill>
          <a:ln w="8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5727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VIRALITY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9202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62.4%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Calibrated probability of reaching top-25% views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3337560"/>
            <a:ext cx="5120640" cy="1828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3337560"/>
            <a:ext cx="3195279" cy="182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3977639"/>
            <a:ext cx="1828800" cy="777240"/>
          </a:xfrm>
          <a:prstGeom prst="rect">
            <a:avLst/>
          </a:prstGeom>
          <a:solidFill>
            <a:srgbClr val="FFFFFF"/>
          </a:solidFill>
          <a:ln w="6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4496" y="409651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Assessment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4496" y="43159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High viral potential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19287" y="3977639"/>
            <a:ext cx="1828800" cy="777240"/>
          </a:xfrm>
          <a:prstGeom prst="rect">
            <a:avLst/>
          </a:prstGeom>
          <a:solidFill>
            <a:srgbClr val="FFFFFF"/>
          </a:solidFill>
          <a:ln w="6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47303" y="409651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Confidence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47303" y="43159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High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12094" y="3977639"/>
            <a:ext cx="1828800" cy="777240"/>
          </a:xfrm>
          <a:prstGeom prst="rect">
            <a:avLst/>
          </a:prstGeom>
          <a:solidFill>
            <a:srgbClr val="FFFFFF"/>
          </a:solidFill>
          <a:ln w="6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40110" y="409651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Outperforms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40110" y="43159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62% of videos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36576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85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Benchmark Comparison &amp;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Benchmark Comparison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731520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874519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Your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87451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Viral 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8745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76272"/>
            <a:ext cx="7315200" cy="384048"/>
          </a:xfrm>
          <a:prstGeom prst="rect">
            <a:avLst/>
          </a:prstGeom>
          <a:solidFill>
            <a:srgbClr val="FFFFFF"/>
          </a:solidFill>
          <a:ln w="40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4942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Number of tags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24942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24942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10 – 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249424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in range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60320"/>
            <a:ext cx="7315200" cy="384048"/>
          </a:xfrm>
          <a:prstGeom prst="rect">
            <a:avLst/>
          </a:prstGeom>
          <a:solidFill>
            <a:srgbClr val="FFFFFF"/>
          </a:solidFill>
          <a:ln w="40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63347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Title length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6334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34 chars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63347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34 – 66 chars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63347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in range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944368"/>
            <a:ext cx="7315200" cy="384048"/>
          </a:xfrm>
          <a:prstGeom prst="rect">
            <a:avLst/>
          </a:prstGeom>
          <a:solidFill>
            <a:srgbClr val="FFFFFF"/>
          </a:solidFill>
          <a:ln w="40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0175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Publish hour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301752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15:00 UTC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301752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13:00, 15:00, 21:00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01752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peak hour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328416"/>
            <a:ext cx="7315200" cy="384048"/>
          </a:xfrm>
          <a:prstGeom prst="rect">
            <a:avLst/>
          </a:prstGeom>
          <a:solidFill>
            <a:srgbClr val="FFFFFF"/>
          </a:solidFill>
          <a:ln w="40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40156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Publish day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340156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Friday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340156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Thu, Fri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40156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peak day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712464"/>
            <a:ext cx="7315200" cy="384048"/>
          </a:xfrm>
          <a:prstGeom prst="rect">
            <a:avLst/>
          </a:prstGeom>
          <a:solidFill>
            <a:srgbClr val="FFFFFF"/>
          </a:solidFill>
          <a:ln w="40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378561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Viral keywords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1760" y="378561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2 hits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3785616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&gt;= 1 recommended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378561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hit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1325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Recommendations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79" y="1828800"/>
            <a:ext cx="4114800" cy="685800"/>
          </a:xfrm>
          <a:prstGeom prst="rect">
            <a:avLst/>
          </a:prstGeom>
          <a:solidFill>
            <a:srgbClr val="FFFFFF"/>
          </a:solidFill>
          <a:ln w="6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55279" y="1828800"/>
            <a:ext cx="54864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92440" y="1920240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Title length (34 chars) is already within the viral range of 34-66 characters.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55279" y="2624328"/>
            <a:ext cx="4114800" cy="685800"/>
          </a:xfrm>
          <a:prstGeom prst="rect">
            <a:avLst/>
          </a:prstGeom>
          <a:solidFill>
            <a:srgbClr val="FFFFFF"/>
          </a:solidFill>
          <a:ln w="6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955279" y="2624328"/>
            <a:ext cx="54864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92440" y="2715768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Tag count of 15 matches the viral range (10-22). Well optimized.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55279" y="3419856"/>
            <a:ext cx="4114800" cy="685800"/>
          </a:xfrm>
          <a:prstGeom prst="rect">
            <a:avLst/>
          </a:prstGeom>
          <a:solidFill>
            <a:srgbClr val="FFFFFF"/>
          </a:solidFill>
          <a:ln w="6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955279" y="3419856"/>
            <a:ext cx="54864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92440" y="3511296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Friday 15:00 UTC is a peak window. Optimal scheduling.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55279" y="4215384"/>
            <a:ext cx="4114800" cy="685800"/>
          </a:xfrm>
          <a:prstGeom prst="rect">
            <a:avLst/>
          </a:prstGeom>
          <a:solidFill>
            <a:srgbClr val="FFFFFF"/>
          </a:solidFill>
          <a:ln w="6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955279" y="4215384"/>
            <a:ext cx="54864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92440" y="4306824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2 viral keywords detected in title. Lift scores x2.1 and x1.8.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55279" y="5010912"/>
            <a:ext cx="4114800" cy="685800"/>
          </a:xfrm>
          <a:prstGeom prst="rect">
            <a:avLst/>
          </a:prstGeom>
          <a:solidFill>
            <a:srgbClr val="FFFFFF"/>
          </a:solidFill>
          <a:ln w="6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955279" y="5010912"/>
            <a:ext cx="54864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92440" y="5102352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Aim for like-ratio &gt;= 2.3% and comment-ratio &gt;= 0.085% post-upload.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36576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85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NLP — Viral Keyword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alibri"/>
              </a:rPr>
              <a:t>Lift score = P(word | viral) / P(word)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For every word appearing &gt;= 50 times, we compute how much more likely it is to appear in the top-25% videos versus the full dataset (Laplace-smoothed).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Top viral keywords (by lift)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trailer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2962656"/>
            <a:ext cx="3413759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08320" y="292608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x2.8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4612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official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3282696"/>
            <a:ext cx="3048000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2560" y="324612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x2.5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6616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new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03120" y="3602736"/>
            <a:ext cx="2804160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98720" y="356616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x2.3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8620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best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03120" y="3922776"/>
            <a:ext cx="2560320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388620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x2.1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0624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highlights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03120" y="4242816"/>
            <a:ext cx="2438400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2960" y="420624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x2.0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262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03120" y="4562856"/>
            <a:ext cx="2316480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1040" y="452628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x1.9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84632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full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03120" y="4882896"/>
            <a:ext cx="2255520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50080" y="484632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x1.9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16636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vs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03120" y="5202936"/>
            <a:ext cx="2194560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0" y="516636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x1.8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2468880"/>
            <a:ext cx="5029200" cy="4023360"/>
          </a:xfrm>
          <a:prstGeom prst="rect">
            <a:avLst/>
          </a:prstGeom>
          <a:solidFill>
            <a:srgbClr val="F8FAFC"/>
          </a:solidFill>
          <a:ln w="8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In-app keyword chips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3063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Detected in title (highlighted blue):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40880" y="3474720"/>
            <a:ext cx="1463040" cy="347472"/>
          </a:xfrm>
          <a:prstGeom prst="rect">
            <a:avLst/>
          </a:prstGeom>
          <a:solidFill>
            <a:srgbClr val="DBEAFE"/>
          </a:solidFill>
          <a:ln w="60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0" y="35387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40AF"/>
                </a:solidFill>
                <a:latin typeface="Calibri"/>
              </a:rPr>
              <a:t>best  x2.1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41080" y="3474720"/>
            <a:ext cx="1463040" cy="347472"/>
          </a:xfrm>
          <a:prstGeom prst="rect">
            <a:avLst/>
          </a:prstGeom>
          <a:solidFill>
            <a:srgbClr val="DBEAFE"/>
          </a:solidFill>
          <a:ln w="60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32520" y="35387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40AF"/>
                </a:solidFill>
                <a:latin typeface="Calibri"/>
              </a:rPr>
              <a:t>moments  x1.7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39776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Suggestions from viral pool: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40880" y="4389120"/>
            <a:ext cx="1554480" cy="347472"/>
          </a:xfrm>
          <a:prstGeom prst="rect">
            <a:avLst/>
          </a:prstGeom>
          <a:solidFill>
            <a:srgbClr val="FFFFFF"/>
          </a:solidFill>
          <a:ln w="6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0" y="44531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trailer  x2.8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05088" y="4389120"/>
            <a:ext cx="1554480" cy="347472"/>
          </a:xfrm>
          <a:prstGeom prst="rect">
            <a:avLst/>
          </a:prstGeom>
          <a:solidFill>
            <a:srgbClr val="FFFFFF"/>
          </a:solidFill>
          <a:ln w="6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96528" y="44531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official  x2.5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40880" y="4846320"/>
            <a:ext cx="1554480" cy="347472"/>
          </a:xfrm>
          <a:prstGeom prst="rect">
            <a:avLst/>
          </a:prstGeom>
          <a:solidFill>
            <a:srgbClr val="FFFFFF"/>
          </a:solidFill>
          <a:ln w="6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32320" y="49103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highlights  x2.0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705088" y="4846320"/>
            <a:ext cx="1554480" cy="347472"/>
          </a:xfrm>
          <a:prstGeom prst="rect">
            <a:avLst/>
          </a:prstGeom>
          <a:solidFill>
            <a:srgbClr val="FFFFFF"/>
          </a:solidFill>
          <a:ln w="6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96528" y="49103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2026  x1.9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040880" y="5303520"/>
            <a:ext cx="1554480" cy="347472"/>
          </a:xfrm>
          <a:prstGeom prst="rect">
            <a:avLst/>
          </a:prstGeom>
          <a:solidFill>
            <a:srgbClr val="FFFFFF"/>
          </a:solidFill>
          <a:ln w="6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0" y="5367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full  x1.85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36576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85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Dashboard — Data Insights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3749039" cy="2331720"/>
          </a:xfrm>
          <a:prstGeom prst="rect">
            <a:avLst/>
          </a:prstGeom>
          <a:solidFill>
            <a:srgbClr val="F8FAFC"/>
          </a:solidFill>
          <a:ln w="6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374903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361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Top Categories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3200400" cy="1005840"/>
          </a:xfrm>
          <a:prstGeom prst="rect">
            <a:avLst/>
          </a:prstGeom>
          <a:solidFill>
            <a:srgbClr val="F1F5F9"/>
          </a:solidFill>
          <a:ln w="4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762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[ Chart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5468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Pets &amp; Animals leads
with 1.2M median views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53128" y="1371600"/>
            <a:ext cx="3749039" cy="2331720"/>
          </a:xfrm>
          <a:prstGeom prst="rect">
            <a:avLst/>
          </a:prstGeom>
          <a:solidFill>
            <a:srgbClr val="F8FAFC"/>
          </a:solidFill>
          <a:ln w="6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53128" y="1371600"/>
            <a:ext cx="374903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5361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Views by Publish Hour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90288" y="2011680"/>
            <a:ext cx="3200400" cy="1005840"/>
          </a:xfrm>
          <a:prstGeom prst="rect">
            <a:avLst/>
          </a:prstGeom>
          <a:solidFill>
            <a:srgbClr val="F1F5F9"/>
          </a:solidFill>
          <a:ln w="4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21762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[ Chart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315468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13:00, 15:00, 21:00 UTC
are peak windows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94776" y="1371600"/>
            <a:ext cx="3749039" cy="2331720"/>
          </a:xfrm>
          <a:prstGeom prst="rect">
            <a:avLst/>
          </a:prstGeom>
          <a:solidFill>
            <a:srgbClr val="F8FAFC"/>
          </a:solidFill>
          <a:ln w="6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94776" y="1371600"/>
            <a:ext cx="374903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31936" y="15361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Day of Week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31936" y="2011680"/>
            <a:ext cx="3200400" cy="1005840"/>
          </a:xfrm>
          <a:prstGeom prst="rect">
            <a:avLst/>
          </a:prstGeom>
          <a:solidFill>
            <a:srgbClr val="F1F5F9"/>
          </a:solidFill>
          <a:ln w="4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31936" y="21762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[ Chart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1936" y="315468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Thu &amp; Fri consistently
outperform weekends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931920"/>
            <a:ext cx="3749039" cy="2331720"/>
          </a:xfrm>
          <a:prstGeom prst="rect">
            <a:avLst/>
          </a:prstGeom>
          <a:solidFill>
            <a:srgbClr val="F8FAFC"/>
          </a:solidFill>
          <a:ln w="6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3931920"/>
            <a:ext cx="374903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0965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Tag Distribution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572000"/>
            <a:ext cx="3200400" cy="1005840"/>
          </a:xfrm>
          <a:prstGeom prst="rect">
            <a:avLst/>
          </a:prstGeom>
          <a:solidFill>
            <a:srgbClr val="F1F5F9"/>
          </a:solidFill>
          <a:ln w="4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73659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[ Chart 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71500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Viral videos cluster
at 10-22 tags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53128" y="3931920"/>
            <a:ext cx="3749039" cy="2331720"/>
          </a:xfrm>
          <a:prstGeom prst="rect">
            <a:avLst/>
          </a:prstGeom>
          <a:solidFill>
            <a:srgbClr val="F8FAFC"/>
          </a:solidFill>
          <a:ln w="6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53128" y="3931920"/>
            <a:ext cx="374903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0288" y="40965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Title Length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90288" y="4572000"/>
            <a:ext cx="3200400" cy="1005840"/>
          </a:xfrm>
          <a:prstGeom prst="rect">
            <a:avLst/>
          </a:prstGeom>
          <a:solidFill>
            <a:srgbClr val="F1F5F9"/>
          </a:solidFill>
          <a:ln w="4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90288" y="473659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[ Chart 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0288" y="571500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34-66 chars is
the sweet spot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94776" y="3931920"/>
            <a:ext cx="3749039" cy="2331720"/>
          </a:xfrm>
          <a:prstGeom prst="rect">
            <a:avLst/>
          </a:prstGeom>
          <a:solidFill>
            <a:srgbClr val="F8FAFC"/>
          </a:solidFill>
          <a:ln w="6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94776" y="3931920"/>
            <a:ext cx="374903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31936" y="40965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Like Ratio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31936" y="4572000"/>
            <a:ext cx="3200400" cy="1005840"/>
          </a:xfrm>
          <a:prstGeom prst="rect">
            <a:avLst/>
          </a:prstGeom>
          <a:solidFill>
            <a:srgbClr val="F1F5F9"/>
          </a:solidFill>
          <a:ln w="4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31936" y="473659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[ Chart 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31936" y="571500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Music &amp; Gaming have
highest engagement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36576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85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Key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651760" cy="1463040"/>
          </a:xfrm>
          <a:prstGeom prst="rect">
            <a:avLst/>
          </a:prstGeom>
          <a:solidFill>
            <a:srgbClr val="0F172A"/>
          </a:solidFill>
          <a:ln w="6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178,267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Videos Analyzed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456432" y="1463040"/>
            <a:ext cx="2651760" cy="1463040"/>
          </a:xfrm>
          <a:prstGeom prst="rect">
            <a:avLst/>
          </a:prstGeom>
          <a:solidFill>
            <a:srgbClr val="0F172A"/>
          </a:solidFill>
          <a:ln w="6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6002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0.853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423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Test ROC AUC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64224" y="1463040"/>
            <a:ext cx="2651760" cy="1463040"/>
          </a:xfrm>
          <a:prstGeom prst="rect">
            <a:avLst/>
          </a:prstGeom>
          <a:solidFill>
            <a:srgbClr val="0F172A"/>
          </a:solidFill>
          <a:ln w="6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1384" y="16002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1384" y="2423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Countries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72016" y="1463040"/>
            <a:ext cx="2651760" cy="1463040"/>
          </a:xfrm>
          <a:prstGeom prst="rect">
            <a:avLst/>
          </a:prstGeom>
          <a:solidFill>
            <a:srgbClr val="0F172A"/>
          </a:solidFill>
          <a:ln w="60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09176" y="16002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9176" y="2423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Categories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46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What we built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749039"/>
            <a:ext cx="11430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•  </a:t>
            </a:r>
            <a:r>
              <a:rPr sz="1400">
                <a:solidFill>
                  <a:srgbClr val="334155"/>
                </a:solidFill>
                <a:latin typeface="Calibri"/>
              </a:rPr>
              <a:t>End-to-end data pipeline: 11 raw CSVs -&gt; cleaned 178K-row dataset with 11 engineered features</a:t>
            </a:r>
          </a:p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•  </a:t>
            </a:r>
            <a:r>
              <a:rPr sz="1400">
                <a:solidFill>
                  <a:srgbClr val="334155"/>
                </a:solidFill>
                <a:latin typeface="Calibri"/>
              </a:rPr>
              <a:t>Calibrated HistGradientBoosting model achieving ROC AUC 0.853 (5-fold CV: 0.797 +/- 0.005)</a:t>
            </a:r>
          </a:p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•  </a:t>
            </a:r>
            <a:r>
              <a:rPr sz="1400">
                <a:solidFill>
                  <a:srgbClr val="334155"/>
                </a:solidFill>
                <a:latin typeface="Calibri"/>
              </a:rPr>
              <a:t>NLP keyword lift analysis over 178K titles — viral word signals with Laplace smoothing</a:t>
            </a:r>
          </a:p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•  </a:t>
            </a:r>
            <a:r>
              <a:rPr sz="1400">
                <a:solidFill>
                  <a:srgbClr val="334155"/>
                </a:solidFill>
                <a:latin typeface="Calibri"/>
              </a:rPr>
              <a:t>Production-quality Streamlit app: Viral Advisor, Dashboard, and Model Insights pages</a:t>
            </a:r>
          </a:p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•  </a:t>
            </a:r>
            <a:r>
              <a:rPr sz="1400">
                <a:solidFill>
                  <a:srgbClr val="334155"/>
                </a:solidFill>
                <a:latin typeface="Calibri"/>
              </a:rPr>
              <a:t>Transparent predictions: benchmark table, calibration curve, permutation feature importance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108960"/>
            <a:ext cx="22860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337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YouTube Viral Advisor  —  Turning pre-upload guesswork into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  <a:latin typeface="Calibri"/>
              </a:rPr>
              <a:t>Code &amp;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analysis.py  |  model.py  |  app.py
generate_slides.py  |  models/model_metrics.json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